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15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5601" y="383381"/>
            <a:ext cx="7452598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DS Group – MFD Data Intelligence Platform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601" y="1097994"/>
            <a:ext cx="8819078" cy="603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05601" y="7288887"/>
            <a:ext cx="8819078" cy="55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analytics platform for FMCG / MFD Operations, deployed on Streamlit Cloud and designed for executive decision-making with enterprise-grade governance and transparency.</a:t>
            </a:r>
            <a:endParaRPr lang="en-US" sz="13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19A4E-61D8-6F03-05A8-1AA4F87671D8}"/>
              </a:ext>
            </a:extLst>
          </p:cNvPr>
          <p:cNvSpPr/>
          <p:nvPr/>
        </p:nvSpPr>
        <p:spPr>
          <a:xfrm>
            <a:off x="12791209" y="784657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E00A3-B353-30F7-06A0-FA4F82A5A59A}"/>
              </a:ext>
            </a:extLst>
          </p:cNvPr>
          <p:cNvSpPr/>
          <p:nvPr/>
        </p:nvSpPr>
        <p:spPr>
          <a:xfrm>
            <a:off x="12573000" y="7730836"/>
            <a:ext cx="1953491" cy="4260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7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62413"/>
            <a:ext cx="60236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This Platform Is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211354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45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Name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93620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DS Group – MFD Data Intelligence Platform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11354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445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Deployment Status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93620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Deployed on Streamlit Cloud (streamlit.app)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211354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445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Industry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936206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FMCG / MFD Operations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151596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platform delivers </a:t>
            </a:r>
            <a:r>
              <a:rPr lang="en-US" sz="2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visibility</a:t>
            </a: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into sales performance, field force productivity, outlet distribution, and operational intelligence—enabling </a:t>
            </a:r>
            <a:r>
              <a:rPr lang="en-US" sz="22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faster decision cycles</a:t>
            </a: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22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reduced dependency on BI teams</a:t>
            </a: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2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6B4D5C-1CEC-16F4-5F7A-413B40242081}"/>
              </a:ext>
            </a:extLst>
          </p:cNvPr>
          <p:cNvSpPr/>
          <p:nvPr/>
        </p:nvSpPr>
        <p:spPr>
          <a:xfrm>
            <a:off x="12791209" y="7845136"/>
            <a:ext cx="45719" cy="51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95284-CF7C-9116-D3E6-00785ACE9674}"/>
              </a:ext>
            </a:extLst>
          </p:cNvPr>
          <p:cNvSpPr/>
          <p:nvPr/>
        </p:nvSpPr>
        <p:spPr>
          <a:xfrm>
            <a:off x="12720194" y="7751618"/>
            <a:ext cx="1837470" cy="4052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6491" y="354568"/>
            <a:ext cx="1564719" cy="195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356491" y="600075"/>
            <a:ext cx="4988838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Tools &amp; Technology Architecture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3356491" y="1178957"/>
            <a:ext cx="7917418" cy="1239083"/>
          </a:xfrm>
          <a:prstGeom prst="roundRect">
            <a:avLst>
              <a:gd name="adj" fmla="val 4243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71731" y="1194197"/>
            <a:ext cx="500658" cy="1208603"/>
          </a:xfrm>
          <a:prstGeom prst="roundRect">
            <a:avLst>
              <a:gd name="adj" fmla="val 6848"/>
            </a:avLst>
          </a:prstGeom>
          <a:solidFill>
            <a:srgbClr val="D2DDF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369" y="1704618"/>
            <a:ext cx="187762" cy="1877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97523" y="1319332"/>
            <a:ext cx="2258258" cy="195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Frontend &amp; Application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7523" y="1589842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Streamlit (Python-based enterprise data app framework)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97523" y="1833682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multi-page architecture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97523" y="2077522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Role-oriented navigation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56491" y="2543175"/>
            <a:ext cx="7917418" cy="1482923"/>
          </a:xfrm>
          <a:prstGeom prst="roundRect">
            <a:avLst>
              <a:gd name="adj" fmla="val 3545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71731" y="2558415"/>
            <a:ext cx="500658" cy="1452443"/>
          </a:xfrm>
          <a:prstGeom prst="roundRect">
            <a:avLst>
              <a:gd name="adj" fmla="val 6848"/>
            </a:avLst>
          </a:prstGeom>
          <a:solidFill>
            <a:srgbClr val="D2DD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4369" y="3190756"/>
            <a:ext cx="187762" cy="1877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97523" y="2683550"/>
            <a:ext cx="2027158" cy="195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Backend &amp; Analytics Layer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97523" y="2954060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(Pandas, NumPy)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997523" y="3197900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Rule-based analytics engine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997523" y="3441740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Deterministic metric calculations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97523" y="3685580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SQL-style transformations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356491" y="4151233"/>
            <a:ext cx="7917418" cy="1482923"/>
          </a:xfrm>
          <a:prstGeom prst="roundRect">
            <a:avLst>
              <a:gd name="adj" fmla="val 3545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71731" y="4166473"/>
            <a:ext cx="500658" cy="1452443"/>
          </a:xfrm>
          <a:prstGeom prst="roundRect">
            <a:avLst>
              <a:gd name="adj" fmla="val 6848"/>
            </a:avLst>
          </a:prstGeom>
          <a:solidFill>
            <a:srgbClr val="D2DDF9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24369" y="4798814"/>
            <a:ext cx="187762" cy="1877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97523" y="4291608"/>
            <a:ext cx="1661517" cy="195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 / Intelligence Layer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997523" y="4562118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Custom-built rule-based reasoning engine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997523" y="4805958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LLMs, no APIs, no external AI calls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997523" y="5049798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explainable logic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997523" y="5293638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Dataset-bound responses only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356491" y="5759291"/>
            <a:ext cx="7917418" cy="995243"/>
          </a:xfrm>
          <a:prstGeom prst="roundRect">
            <a:avLst>
              <a:gd name="adj" fmla="val 5283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71731" y="5774531"/>
            <a:ext cx="500658" cy="964763"/>
          </a:xfrm>
          <a:prstGeom prst="roundRect">
            <a:avLst>
              <a:gd name="adj" fmla="val 6848"/>
            </a:avLst>
          </a:prstGeom>
          <a:solidFill>
            <a:srgbClr val="D2DDF9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4369" y="6163032"/>
            <a:ext cx="187762" cy="18776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997523" y="5899666"/>
            <a:ext cx="1564719" cy="195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997523" y="6170176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Excel / CSV Upload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3997523" y="6414016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Snowflake (SQL-based access)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356491" y="6879669"/>
            <a:ext cx="7917418" cy="995243"/>
          </a:xfrm>
          <a:prstGeom prst="roundRect">
            <a:avLst>
              <a:gd name="adj" fmla="val 5283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371731" y="6894909"/>
            <a:ext cx="500658" cy="964763"/>
          </a:xfrm>
          <a:prstGeom prst="roundRect">
            <a:avLst>
              <a:gd name="adj" fmla="val 6848"/>
            </a:avLst>
          </a:prstGeom>
          <a:solidFill>
            <a:srgbClr val="D2DDF9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24369" y="7283410"/>
            <a:ext cx="187762" cy="18776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97523" y="7020044"/>
            <a:ext cx="1564719" cy="195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997523" y="7290554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Streamlit Cloud (streamlit.app)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3997523" y="7534394"/>
            <a:ext cx="713601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GitHub-based CI deployment</a:t>
            </a:r>
            <a:endParaRPr lang="en-US" sz="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B92F03-D8A9-5590-FCED-BA6FDB9FBD85}"/>
              </a:ext>
            </a:extLst>
          </p:cNvPr>
          <p:cNvSpPr/>
          <p:nvPr/>
        </p:nvSpPr>
        <p:spPr>
          <a:xfrm>
            <a:off x="12780818" y="7734538"/>
            <a:ext cx="1756064" cy="4015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503"/>
            <a:ext cx="3709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Deployment Transparency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17558"/>
            <a:ext cx="124235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Streamlit Cloud (streamlit.app) – Limitations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69331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Known Limitations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3454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 cloud deployment (not on-prem)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876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Session-based memory (non-persistent storage)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298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compute for heavy ML workloads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6720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 designed for real-time streaming data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142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enterprise IAM (RBAC must be handled externally)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55640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Suitable for POC, pilot, and controlled production usage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693313"/>
            <a:ext cx="567701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Streamlit Cloud Was Chosen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599521" y="33454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 deployment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09912" y="37876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 efficiency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2298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Easy iteration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6720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Ideal for executive analytics &amp; review systems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5238988"/>
            <a:ext cx="6244709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deployment model balances speed-to-value with controlled production usage, making it appropriate for executive intelligence and strategic review.</a:t>
            </a:r>
            <a:endParaRPr lang="en-US" sz="2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9A4C3B-9621-B7B0-0FB2-61AEFA79E94C}"/>
              </a:ext>
            </a:extLst>
          </p:cNvPr>
          <p:cNvSpPr/>
          <p:nvPr/>
        </p:nvSpPr>
        <p:spPr>
          <a:xfrm>
            <a:off x="12843164" y="7782791"/>
            <a:ext cx="1693718" cy="362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759262"/>
            <a:ext cx="3003590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Enterprise Governance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746165" y="1177528"/>
            <a:ext cx="7329845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Security &amp; Data Governance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746165" y="2483406"/>
            <a:ext cx="4237196" cy="3500080"/>
          </a:xfrm>
          <a:prstGeom prst="roundRect">
            <a:avLst>
              <a:gd name="adj" fmla="val 3135"/>
            </a:avLst>
          </a:prstGeom>
          <a:solidFill>
            <a:srgbClr val="F9F9FF"/>
          </a:solidFill>
          <a:ln/>
        </p:spPr>
      </p:sp>
      <p:sp>
        <p:nvSpPr>
          <p:cNvPr id="5" name="Shape 3"/>
          <p:cNvSpPr/>
          <p:nvPr/>
        </p:nvSpPr>
        <p:spPr>
          <a:xfrm>
            <a:off x="746165" y="2460546"/>
            <a:ext cx="4237196" cy="91440"/>
          </a:xfrm>
          <a:prstGeom prst="roundRect">
            <a:avLst>
              <a:gd name="adj" fmla="val 97929"/>
            </a:avLst>
          </a:prstGeom>
          <a:solidFill>
            <a:srgbClr val="1B54DA"/>
          </a:solidFill>
          <a:ln/>
        </p:spPr>
      </p:sp>
      <p:sp>
        <p:nvSpPr>
          <p:cNvPr id="6" name="Shape 4"/>
          <p:cNvSpPr/>
          <p:nvPr/>
        </p:nvSpPr>
        <p:spPr>
          <a:xfrm>
            <a:off x="2544961" y="2163604"/>
            <a:ext cx="639604" cy="639604"/>
          </a:xfrm>
          <a:prstGeom prst="roundRect">
            <a:avLst>
              <a:gd name="adj" fmla="val 142963"/>
            </a:avLst>
          </a:prstGeom>
          <a:solidFill>
            <a:srgbClr val="1B54D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6890" y="2355533"/>
            <a:ext cx="255746" cy="2557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2147" y="301632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Security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82147" y="3477220"/>
            <a:ext cx="376523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data stored permanently on server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82147" y="4233982"/>
            <a:ext cx="376523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Session-level data handling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82147" y="4649629"/>
            <a:ext cx="376523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third-party API data sharing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82147" y="5065276"/>
            <a:ext cx="376523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Snowflake credentials not persisted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196483" y="2483406"/>
            <a:ext cx="4237315" cy="3500080"/>
          </a:xfrm>
          <a:prstGeom prst="roundRect">
            <a:avLst>
              <a:gd name="adj" fmla="val 3135"/>
            </a:avLst>
          </a:prstGeom>
          <a:solidFill>
            <a:srgbClr val="F9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196483" y="2460546"/>
            <a:ext cx="4237315" cy="91440"/>
          </a:xfrm>
          <a:prstGeom prst="roundRect">
            <a:avLst>
              <a:gd name="adj" fmla="val 97929"/>
            </a:avLst>
          </a:prstGeom>
          <a:solidFill>
            <a:srgbClr val="1B54DA"/>
          </a:solidFill>
          <a:ln/>
        </p:spPr>
      </p:sp>
      <p:sp>
        <p:nvSpPr>
          <p:cNvPr id="15" name="Shape 12"/>
          <p:cNvSpPr/>
          <p:nvPr/>
        </p:nvSpPr>
        <p:spPr>
          <a:xfrm>
            <a:off x="6995279" y="2163604"/>
            <a:ext cx="639604" cy="639604"/>
          </a:xfrm>
          <a:prstGeom prst="roundRect">
            <a:avLst>
              <a:gd name="adj" fmla="val 142963"/>
            </a:avLst>
          </a:prstGeom>
          <a:solidFill>
            <a:srgbClr val="1B54D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7208" y="2355533"/>
            <a:ext cx="255746" cy="25574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32465" y="301632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Privacy</a:t>
            </a:r>
            <a:endParaRPr lang="en-US" sz="2050" dirty="0"/>
          </a:p>
        </p:txBody>
      </p:sp>
      <p:sp>
        <p:nvSpPr>
          <p:cNvPr id="18" name="Text 14"/>
          <p:cNvSpPr/>
          <p:nvPr/>
        </p:nvSpPr>
        <p:spPr>
          <a:xfrm>
            <a:off x="5432465" y="3477220"/>
            <a:ext cx="376535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external model calls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5432465" y="3892868"/>
            <a:ext cx="376535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data leakage risk to AI vendors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5432465" y="4649629"/>
            <a:ext cx="376535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internal computation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9646920" y="2483406"/>
            <a:ext cx="4237315" cy="3500080"/>
          </a:xfrm>
          <a:prstGeom prst="roundRect">
            <a:avLst>
              <a:gd name="adj" fmla="val 3135"/>
            </a:avLst>
          </a:prstGeom>
          <a:solidFill>
            <a:srgbClr val="F9F9FF"/>
          </a:solidFill>
          <a:ln/>
        </p:spPr>
      </p:sp>
      <p:sp>
        <p:nvSpPr>
          <p:cNvPr id="22" name="Shape 18"/>
          <p:cNvSpPr/>
          <p:nvPr/>
        </p:nvSpPr>
        <p:spPr>
          <a:xfrm>
            <a:off x="9646920" y="2460546"/>
            <a:ext cx="4237315" cy="91440"/>
          </a:xfrm>
          <a:prstGeom prst="roundRect">
            <a:avLst>
              <a:gd name="adj" fmla="val 97929"/>
            </a:avLst>
          </a:prstGeom>
          <a:solidFill>
            <a:srgbClr val="1B54DA"/>
          </a:solidFill>
          <a:ln/>
        </p:spPr>
      </p:sp>
      <p:sp>
        <p:nvSpPr>
          <p:cNvPr id="23" name="Shape 19"/>
          <p:cNvSpPr/>
          <p:nvPr/>
        </p:nvSpPr>
        <p:spPr>
          <a:xfrm>
            <a:off x="11445716" y="2163604"/>
            <a:ext cx="639604" cy="639604"/>
          </a:xfrm>
          <a:prstGeom prst="roundRect">
            <a:avLst>
              <a:gd name="adj" fmla="val 142963"/>
            </a:avLst>
          </a:prstGeom>
          <a:solidFill>
            <a:srgbClr val="1B54DA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7645" y="2355533"/>
            <a:ext cx="255746" cy="25574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882902" y="301632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Governance</a:t>
            </a:r>
            <a:endParaRPr lang="en-US" sz="2050" dirty="0"/>
          </a:p>
        </p:txBody>
      </p:sp>
      <p:sp>
        <p:nvSpPr>
          <p:cNvPr id="26" name="Text 21"/>
          <p:cNvSpPr/>
          <p:nvPr/>
        </p:nvSpPr>
        <p:spPr>
          <a:xfrm>
            <a:off x="9882902" y="3477220"/>
            <a:ext cx="376535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Deterministic outputs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9882902" y="3892868"/>
            <a:ext cx="376535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auditable metrics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9882902" y="4308515"/>
            <a:ext cx="376535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Explainable decision logic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9882902" y="4724162"/>
            <a:ext cx="376535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black-box predictions</a:t>
            </a:r>
            <a:endParaRPr lang="en-US" sz="1650" dirty="0"/>
          </a:p>
        </p:txBody>
      </p:sp>
      <p:sp>
        <p:nvSpPr>
          <p:cNvPr id="30" name="Shape 25"/>
          <p:cNvSpPr/>
          <p:nvPr/>
        </p:nvSpPr>
        <p:spPr>
          <a:xfrm>
            <a:off x="746165" y="6223278"/>
            <a:ext cx="13138071" cy="1246942"/>
          </a:xfrm>
          <a:prstGeom prst="roundRect">
            <a:avLst>
              <a:gd name="adj" fmla="val 7181"/>
            </a:avLst>
          </a:prstGeom>
          <a:solidFill>
            <a:srgbClr val="BBCDF7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287" y="6531650"/>
            <a:ext cx="266462" cy="21312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38870" y="6489621"/>
            <a:ext cx="12232243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Zero AI compliance risk:</a:t>
            </a:r>
            <a:r>
              <a:rPr lang="en-US" sz="16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All computations are rule-based, transparent, and auditable—ensuring full alignment with enterprise governance standards.</a:t>
            </a:r>
            <a:endParaRPr lang="en-US" sz="16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FCF4CE-F403-199B-B5D6-0832E4ED6BCD}"/>
              </a:ext>
            </a:extLst>
          </p:cNvPr>
          <p:cNvSpPr/>
          <p:nvPr/>
        </p:nvSpPr>
        <p:spPr>
          <a:xfrm>
            <a:off x="12895118" y="7772400"/>
            <a:ext cx="1600200" cy="3325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320" y="564356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Platform Modules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8320" y="965478"/>
            <a:ext cx="10808018" cy="639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Modules: Navigation &amp; Data Ingestion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8320" y="2095143"/>
            <a:ext cx="366510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19913" y="2095143"/>
            <a:ext cx="8769548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8320" y="2836188"/>
            <a:ext cx="204430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8320" y="3160752"/>
            <a:ext cx="6364605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8" name="Text 6"/>
          <p:cNvSpPr/>
          <p:nvPr/>
        </p:nvSpPr>
        <p:spPr>
          <a:xfrm>
            <a:off x="848320" y="3308628"/>
            <a:ext cx="355830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app.py – Home &amp; Navigation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8320" y="3750707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Provide role-oriented navigation and centralized access to all modules.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8320" y="4527471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Single entry point for all analytics and intelligence functions.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8320" y="5304234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Streamlined access reduces time-to-insight for executives.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8320" y="6080998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Modular architecture, intuitive navigation, role-based access design.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17356" y="2836188"/>
            <a:ext cx="204430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17356" y="3160752"/>
            <a:ext cx="6364605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5" name="Text 13"/>
          <p:cNvSpPr/>
          <p:nvPr/>
        </p:nvSpPr>
        <p:spPr>
          <a:xfrm>
            <a:off x="7417356" y="3308628"/>
            <a:ext cx="483048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0_Upload_Dataset.py – Data Ingestion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17356" y="3750707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 flexible data ingestion from Excel/CSV or Snowflake.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17356" y="4527471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On-demand data refresh without IT dependency.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17356" y="5304234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Faster data availability for ad-hoc analysis and executive reviews.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17356" y="6080998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Multi-source support, session-based processing, no permanent storage.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17356" y="6857762"/>
            <a:ext cx="636460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Known Limitations: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Session-based memory means data must be re-uploaded per session.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1CB85A-415B-6E68-2AE8-60C3F328570F}"/>
              </a:ext>
            </a:extLst>
          </p:cNvPr>
          <p:cNvSpPr/>
          <p:nvPr/>
        </p:nvSpPr>
        <p:spPr>
          <a:xfrm>
            <a:off x="12811991" y="7741227"/>
            <a:ext cx="1693718" cy="4197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622" y="469821"/>
            <a:ext cx="3282077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Executive Intelligence Modules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927622" y="804148"/>
            <a:ext cx="7637859" cy="53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Performance &amp; Operations Analytics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1927622" y="1591985"/>
            <a:ext cx="383262" cy="38326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1439" y="1623893"/>
            <a:ext cx="25550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81143" y="1650444"/>
            <a:ext cx="260913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1_Executive_Overview.py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481143" y="2018824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Deliver top-level KPIs and performance summary for executive review.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81143" y="2666048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At-a-glance view of sales, distribution, and field force performance.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81143" y="3313271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Enables rapid identification of performance gaps and strategic priorities.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81143" y="3960495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Consolidated view, executive-friendly visualizations, drill-down capability.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21523" y="1591985"/>
            <a:ext cx="383262" cy="38326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85340" y="1623893"/>
            <a:ext cx="25550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75044" y="1650444"/>
            <a:ext cx="2582108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2_Sales_Performance.py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75044" y="2018824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Analyze sales trends, growth rates, and performance by region/channel.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75044" y="2666048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Identifies high-performing and underperforming segments.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75044" y="3313271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Informs resource allocation and sales strategy adjustments.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75044" y="3960495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Multi-dimensional analysis, trend visualization, comparative metrics.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27622" y="4846201"/>
            <a:ext cx="383262" cy="38326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1439" y="4878110"/>
            <a:ext cx="25550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481143" y="4904661"/>
            <a:ext cx="272557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3_Product_SKU_Brand.py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481143" y="5273040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Evaluate product, SKU, and brand-level performance.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81143" y="5920264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Highlights top contributors and underperformers at granular level.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81143" y="6567488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Supports portfolio optimization and brand investment decisions.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81143" y="7214711"/>
            <a:ext cx="4727496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Granular visibility, contribution analysis, brand comparison.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21523" y="4846201"/>
            <a:ext cx="383262" cy="38326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5340" y="4878110"/>
            <a:ext cx="25550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75044" y="4904661"/>
            <a:ext cx="260234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4_Outlet_Distribution.py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975044" y="5273040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Monitor outlet coverage, distribution reach, and channel effectiveness.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5044" y="5920264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Identifies distribution gaps and expansion opportunities.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75044" y="6567488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Guides distribution strategy and outlet prioritization.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75044" y="7214711"/>
            <a:ext cx="472761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Geographic analysis, channel segmentation, coverage metrics.</a:t>
            </a:r>
            <a:endParaRPr lang="en-US" sz="13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DBE0B0-B6AA-6C3E-7105-D055E25DB08D}"/>
              </a:ext>
            </a:extLst>
          </p:cNvPr>
          <p:cNvSpPr/>
          <p:nvPr/>
        </p:nvSpPr>
        <p:spPr>
          <a:xfrm>
            <a:off x="12791209" y="7759779"/>
            <a:ext cx="1745673" cy="3763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9556"/>
            <a:ext cx="3431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Field Force &amp; Operations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654612"/>
            <a:ext cx="96806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Productivity &amp; Order Management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703552"/>
            <a:ext cx="6407944" cy="4316492"/>
          </a:xfrm>
          <a:prstGeom prst="roundRect">
            <a:avLst>
              <a:gd name="adj" fmla="val 2207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2960846"/>
            <a:ext cx="4220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5_Field_Force_Productivity.py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345126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Measure field force efficiency, visit productivity, and coverage.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1084" y="431315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Identifies high and low performers, coverage gaps, and productivity trends.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5175052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Informs territory planning, incentive design, and resource reallocation.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603694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Individual and team-level metrics, visit analysis, productivity benchmarking.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703552"/>
            <a:ext cx="6408063" cy="4316492"/>
          </a:xfrm>
          <a:prstGeom prst="roundRect">
            <a:avLst>
              <a:gd name="adj" fmla="val 2207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5842" y="2960846"/>
            <a:ext cx="32670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6_Order_Operations.py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45126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Analyze order patterns, fulfillment rates, and operational efficiency.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85842" y="431315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Highlights order processing bottlenecks and fulfillment issues.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85842" y="5175052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Supports operational improvements and supply chain optimization.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85842" y="603694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Order-level visibility, fulfillment tracking, operational KPIs.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24470B-D095-E713-7F54-650AB0E11CA7}"/>
              </a:ext>
            </a:extLst>
          </p:cNvPr>
          <p:cNvSpPr/>
          <p:nvPr/>
        </p:nvSpPr>
        <p:spPr>
          <a:xfrm>
            <a:off x="12874336" y="7730836"/>
            <a:ext cx="1641764" cy="3948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2751" y="378500"/>
            <a:ext cx="2458045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Analytics Modules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962751" y="648533"/>
            <a:ext cx="7343894" cy="430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Forecasting, Segmentation &amp; Daily Analysis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751" y="1284923"/>
            <a:ext cx="4352330" cy="5504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0268" y="1972866"/>
            <a:ext cx="1968103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7_Sales_Forecasting.py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100268" y="2270403"/>
            <a:ext cx="4077295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Provide forward-looking sales projections based on historical trends.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100268" y="2793206"/>
            <a:ext cx="4077295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Anticipates future performance and identifies potential shortfalls.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00268" y="3316010"/>
            <a:ext cx="4077295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Enables proactive planning and resource allocation.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00268" y="3838813"/>
            <a:ext cx="4077295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Trend-based forecasting, scenario analysis.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00268" y="4141470"/>
            <a:ext cx="4077295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Known Limitations: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Rule-based projections, not ML-driven; accuracy depends on data quality.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81" y="1284923"/>
            <a:ext cx="4352449" cy="5504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598" y="1972866"/>
            <a:ext cx="2312432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8_Outlet_Segmentation.py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52598" y="2270403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Segment outlets by performance, potential, and characteristics.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452598" y="2793206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Identifies high-value outlets and growth opportunities.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52598" y="3316010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Guides targeted marketing and distribution strategies.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452598" y="3838813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Multi-criteria segmentation, actionable groupings.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751" y="4719280"/>
            <a:ext cx="4352330" cy="5504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00268" y="5407223"/>
            <a:ext cx="2201228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9_Daily_Sales_Analysis.py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100268" y="5704761"/>
            <a:ext cx="4077295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Monitor daily sales performance and short-term trends.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100268" y="6227564"/>
            <a:ext cx="4077295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Real-time visibility into daily operations and anomalies.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100268" y="6750368"/>
            <a:ext cx="4077295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Enables rapid response to emerging issues.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100268" y="7053024"/>
            <a:ext cx="4077295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Granular daily tracking, trend detection.</a:t>
            </a:r>
            <a:endParaRPr lang="en-US" sz="10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81" y="4719280"/>
            <a:ext cx="4352449" cy="5504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598" y="5407223"/>
            <a:ext cx="2692122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10_Advanced_Daily_Analysis.py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452598" y="5704761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Deep-dive into daily patterns with advanced metrics.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452598" y="6227564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Uncovers hidden patterns and operational insights.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452598" y="6750368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Supports tactical adjustments and operational fine-tuning.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452598" y="7273171"/>
            <a:ext cx="4077414" cy="44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Advanced metrics, pattern recognition, drill-down capability.</a:t>
            </a:r>
            <a:endParaRPr lang="en-US" sz="10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8C4BE0-E694-A31E-E23B-3C5CDFEBC9C7}"/>
              </a:ext>
            </a:extLst>
          </p:cNvPr>
          <p:cNvSpPr/>
          <p:nvPr/>
        </p:nvSpPr>
        <p:spPr>
          <a:xfrm>
            <a:off x="12895118" y="7713464"/>
            <a:ext cx="1662546" cy="4402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2" y="311825"/>
            <a:ext cx="226433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Intelligence &amp; 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728442" y="534352"/>
            <a:ext cx="717339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Insights, SQL Studio, Quality Monitoring &amp; AI Assistant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8442" y="1413034"/>
            <a:ext cx="283488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53614" y="1480304"/>
            <a:ext cx="178534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11_Actionable_Insights.py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53614" y="1725454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Surface prioritized, actionable recommendations based on data analysis.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53614" y="2156341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Pre-digested insights that drive immediate action.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153614" y="2587228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Reduces analysis time and accelerates decision-making.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53614" y="3018115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Rule-based insight generation, prioritization logic, executive-ready format.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5923" y="1413034"/>
            <a:ext cx="283488" cy="283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11095" y="1480304"/>
            <a:ext cx="205573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13_Snowflake_SQL_Studio.py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1095" y="1725454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 direct SQL querying of Snowflake data for advanced users.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811095" y="2156341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Ad-hoc analysis capability without BI team dependency.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811095" y="2587228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Empowers power users to explore data independently.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811095" y="3018115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Direct database access, flexible querying, SQL-based exploration.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811095" y="3449003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Known Limitations: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Requires SQL knowledge; credentials not persisted.</a:t>
            </a:r>
            <a:endParaRPr lang="en-US" sz="8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8442" y="4038719"/>
            <a:ext cx="283488" cy="283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53614" y="4105989"/>
            <a:ext cx="197500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14_Data_Quality_Monitor.py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153614" y="4351139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Monitor data completeness, accuracy, and consistency.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153614" y="4782026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Flags data quality issues that could impact decision-making.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153614" y="5212913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Ensures confidence in analytics outputs and prevents bad decisions.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153614" y="5643801"/>
            <a:ext cx="309062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Automated quality checks, issue flagging, data profiling.</a:t>
            </a:r>
            <a:endParaRPr lang="en-US" sz="8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5923" y="4038719"/>
            <a:ext cx="283488" cy="283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11095" y="4105989"/>
            <a:ext cx="174117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16_AI_Executive_Chat.py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811095" y="4351139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Objective: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Provide conversational interface for data exploration and insight retrieval.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7811095" y="4782026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Insight Delivered: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Natural language access to analytics without navigating multiple screens.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811095" y="5212913"/>
            <a:ext cx="30907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Impact: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Democratizes data access and accelerates insight discovery.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811095" y="5643801"/>
            <a:ext cx="30907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ChatGPT-style UI, dataset-bound responses, rule-based intent detection, metric engine + reasoning engine, drill-down support, explain-why capability, follow-up suggestions, enterprise-safe by design.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811095" y="6437590"/>
            <a:ext cx="309074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Known Limitations: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future prediction unless explicitly designed; no free-text inference beyond dataset scope.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3728442" y="7109460"/>
            <a:ext cx="7173397" cy="844748"/>
          </a:xfrm>
          <a:prstGeom prst="roundRect">
            <a:avLst>
              <a:gd name="adj" fmla="val 5639"/>
            </a:avLst>
          </a:prstGeom>
          <a:solidFill>
            <a:srgbClr val="BBCDF7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1790" y="7273885"/>
            <a:ext cx="141684" cy="1133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96822" y="7251144"/>
            <a:ext cx="669167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Executive Assistant: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This module delivers a ChatGPT-style conversational UI with </a:t>
            </a:r>
            <a:r>
              <a:rPr lang="en-US" sz="8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dataset-bound responses only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It uses rule-based intent detection and a metric engine + reasoning engine to support drill-down, explain-why, and follow-up suggestions—all while maintaining </a:t>
            </a:r>
            <a:r>
              <a:rPr lang="en-US" sz="8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enterprise-safe design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no external model calls.</a:t>
            </a:r>
            <a:endParaRPr lang="en-US" sz="8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46E627-EA60-456D-5C64-99F7DD476AA5}"/>
              </a:ext>
            </a:extLst>
          </p:cNvPr>
          <p:cNvSpPr/>
          <p:nvPr/>
        </p:nvSpPr>
        <p:spPr>
          <a:xfrm>
            <a:off x="12905509" y="7720446"/>
            <a:ext cx="1631373" cy="3636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1432</Words>
  <Application>Microsoft Office PowerPoint</Application>
  <PresentationFormat>Custom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Alexandria Light</vt:lpstr>
      <vt:lpstr>Alexandria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Abhay Dubey</cp:lastModifiedBy>
  <cp:revision>3</cp:revision>
  <dcterms:created xsi:type="dcterms:W3CDTF">2026-01-06T18:28:25Z</dcterms:created>
  <dcterms:modified xsi:type="dcterms:W3CDTF">2026-01-06T18:35:42Z</dcterms:modified>
</cp:coreProperties>
</file>